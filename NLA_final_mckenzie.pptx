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67" r:id="rId4"/>
    <p:sldId id="260" r:id="rId5"/>
    <p:sldId id="261" r:id="rId6"/>
    <p:sldId id="262" r:id="rId7"/>
    <p:sldId id="263" r:id="rId8"/>
    <p:sldId id="268" r:id="rId9"/>
    <p:sldId id="269" r:id="rId10"/>
    <p:sldId id="265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1DAA7-C735-4237-9A0E-1501DBE222CD}" v="1" dt="2026-04-14T16:36:58.2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kmojo@gmail.com" userId="33d47c25c4b84b2d" providerId="LiveId" clId="{F8EE1B32-1872-4F1A-9BAB-4905B7F25004}"/>
    <pc:docChg chg="undo custSel delSld modSld">
      <pc:chgData name="mckmojo@gmail.com" userId="33d47c25c4b84b2d" providerId="LiveId" clId="{F8EE1B32-1872-4F1A-9BAB-4905B7F25004}" dt="2026-04-14T16:39:29.558" v="200" actId="20577"/>
      <pc:docMkLst>
        <pc:docMk/>
      </pc:docMkLst>
      <pc:sldChg chg="addSp delSp modSp mod">
        <pc:chgData name="mckmojo@gmail.com" userId="33d47c25c4b84b2d" providerId="LiveId" clId="{F8EE1B32-1872-4F1A-9BAB-4905B7F25004}" dt="2026-04-14T16:33:16.890" v="55" actId="20577"/>
        <pc:sldMkLst>
          <pc:docMk/>
          <pc:sldMk cId="0" sldId="261"/>
        </pc:sldMkLst>
        <pc:spChg chg="mod">
          <ac:chgData name="mckmojo@gmail.com" userId="33d47c25c4b84b2d" providerId="LiveId" clId="{F8EE1B32-1872-4F1A-9BAB-4905B7F25004}" dt="2026-04-14T16:33:16.890" v="55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ckmojo@gmail.com" userId="33d47c25c4b84b2d" providerId="LiveId" clId="{F8EE1B32-1872-4F1A-9BAB-4905B7F25004}" dt="2026-04-14T16:26:00.983" v="19" actId="20577"/>
          <ac:spMkLst>
            <pc:docMk/>
            <pc:sldMk cId="0" sldId="261"/>
            <ac:spMk id="14" creationId="{00000000-0000-0000-0000-000000000000}"/>
          </ac:spMkLst>
        </pc:spChg>
        <pc:grpChg chg="mod">
          <ac:chgData name="mckmojo@gmail.com" userId="33d47c25c4b84b2d" providerId="LiveId" clId="{F8EE1B32-1872-4F1A-9BAB-4905B7F25004}" dt="2026-04-14T16:22:24.843" v="9" actId="1076"/>
          <ac:grpSpMkLst>
            <pc:docMk/>
            <pc:sldMk cId="0" sldId="261"/>
            <ac:grpSpMk id="3" creationId="{00000000-0000-0000-0000-000000000000}"/>
          </ac:grpSpMkLst>
        </pc:grpChg>
        <pc:picChg chg="add mod ord">
          <ac:chgData name="mckmojo@gmail.com" userId="33d47c25c4b84b2d" providerId="LiveId" clId="{F8EE1B32-1872-4F1A-9BAB-4905B7F25004}" dt="2026-04-14T16:22:48.362" v="15" actId="14100"/>
          <ac:picMkLst>
            <pc:docMk/>
            <pc:sldMk cId="0" sldId="261"/>
            <ac:picMk id="8" creationId="{70154467-4C56-F2EC-679B-CA4187118CAD}"/>
          </ac:picMkLst>
        </pc:picChg>
        <pc:picChg chg="del">
          <ac:chgData name="mckmojo@gmail.com" userId="33d47c25c4b84b2d" providerId="LiveId" clId="{F8EE1B32-1872-4F1A-9BAB-4905B7F25004}" dt="2026-04-14T16:22:07.130" v="0" actId="478"/>
          <ac:picMkLst>
            <pc:docMk/>
            <pc:sldMk cId="0" sldId="261"/>
            <ac:picMk id="18" creationId="{D9B557C1-3B8F-2C99-AAD3-FF5CA1176171}"/>
          </ac:picMkLst>
        </pc:picChg>
      </pc:sldChg>
      <pc:sldChg chg="addSp modSp mod">
        <pc:chgData name="mckmojo@gmail.com" userId="33d47c25c4b84b2d" providerId="LiveId" clId="{F8EE1B32-1872-4F1A-9BAB-4905B7F25004}" dt="2026-04-14T16:38:29.421" v="114" actId="1076"/>
        <pc:sldMkLst>
          <pc:docMk/>
          <pc:sldMk cId="0" sldId="262"/>
        </pc:sldMkLst>
        <pc:spChg chg="mod">
          <ac:chgData name="mckmojo@gmail.com" userId="33d47c25c4b84b2d" providerId="LiveId" clId="{F8EE1B32-1872-4F1A-9BAB-4905B7F25004}" dt="2026-04-14T16:38:29.421" v="114" actId="1076"/>
          <ac:spMkLst>
            <pc:docMk/>
            <pc:sldMk cId="0" sldId="262"/>
            <ac:spMk id="16" creationId="{00000000-0000-0000-0000-000000000000}"/>
          </ac:spMkLst>
        </pc:spChg>
        <pc:picChg chg="add mod ord">
          <ac:chgData name="mckmojo@gmail.com" userId="33d47c25c4b84b2d" providerId="LiveId" clId="{F8EE1B32-1872-4F1A-9BAB-4905B7F25004}" dt="2026-04-14T16:37:32.863" v="67" actId="14100"/>
          <ac:picMkLst>
            <pc:docMk/>
            <pc:sldMk cId="0" sldId="262"/>
            <ac:picMk id="2" creationId="{904ED9DD-F12A-FEF2-554C-CFF86E60F990}"/>
          </ac:picMkLst>
        </pc:picChg>
      </pc:sldChg>
      <pc:sldChg chg="modSp mod">
        <pc:chgData name="mckmojo@gmail.com" userId="33d47c25c4b84b2d" providerId="LiveId" clId="{F8EE1B32-1872-4F1A-9BAB-4905B7F25004}" dt="2026-04-14T16:39:29.558" v="200" actId="20577"/>
        <pc:sldMkLst>
          <pc:docMk/>
          <pc:sldMk cId="0" sldId="265"/>
        </pc:sldMkLst>
        <pc:spChg chg="mod">
          <ac:chgData name="mckmojo@gmail.com" userId="33d47c25c4b84b2d" providerId="LiveId" clId="{F8EE1B32-1872-4F1A-9BAB-4905B7F25004}" dt="2026-04-14T16:39:29.558" v="200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mckmojo@gmail.com" userId="33d47c25c4b84b2d" providerId="LiveId" clId="{F8EE1B32-1872-4F1A-9BAB-4905B7F25004}" dt="2026-04-14T16:31:59.460" v="43" actId="20577"/>
        <pc:sldMkLst>
          <pc:docMk/>
          <pc:sldMk cId="620072368" sldId="266"/>
        </pc:sldMkLst>
        <pc:spChg chg="mod">
          <ac:chgData name="mckmojo@gmail.com" userId="33d47c25c4b84b2d" providerId="LiveId" clId="{F8EE1B32-1872-4F1A-9BAB-4905B7F25004}" dt="2026-04-14T16:31:59.460" v="43" actId="20577"/>
          <ac:spMkLst>
            <pc:docMk/>
            <pc:sldMk cId="620072368" sldId="266"/>
            <ac:spMk id="42" creationId="{B24E0836-3336-F582-248F-864AAFE0EF88}"/>
          </ac:spMkLst>
        </pc:spChg>
        <pc:spChg chg="mod">
          <ac:chgData name="mckmojo@gmail.com" userId="33d47c25c4b84b2d" providerId="LiveId" clId="{F8EE1B32-1872-4F1A-9BAB-4905B7F25004}" dt="2026-04-14T16:26:55.648" v="27" actId="20577"/>
          <ac:spMkLst>
            <pc:docMk/>
            <pc:sldMk cId="620072368" sldId="266"/>
            <ac:spMk id="45" creationId="{A7288309-6766-519D-941D-242C12BFA472}"/>
          </ac:spMkLst>
        </pc:spChg>
      </pc:sldChg>
      <pc:sldChg chg="del">
        <pc:chgData name="mckmojo@gmail.com" userId="33d47c25c4b84b2d" providerId="LiveId" clId="{F8EE1B32-1872-4F1A-9BAB-4905B7F25004}" dt="2026-04-14T16:37:01.111" v="57" actId="47"/>
        <pc:sldMkLst>
          <pc:docMk/>
          <pc:sldMk cId="2193999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7447" cy="1150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782" y="120070"/>
            <a:ext cx="6300623" cy="12788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0" y="3536888"/>
            <a:ext cx="9144000" cy="3790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FFFFFF"/>
                </a:solidFill>
                <a:latin typeface="Calibri Light"/>
                <a:cs typeface="Calibri Light"/>
              </a:rPr>
              <a:t>Loyalty</a:t>
            </a:r>
            <a:r>
              <a:rPr sz="23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 Light"/>
                <a:cs typeface="Calibri Light"/>
              </a:rPr>
              <a:t>Program</a:t>
            </a:r>
            <a:r>
              <a:rPr lang="en-US" sz="2300" dirty="0">
                <a:solidFill>
                  <a:srgbClr val="FFFFFF"/>
                </a:solidFill>
                <a:latin typeface="Calibri Light"/>
                <a:cs typeface="Calibri Light"/>
              </a:rPr>
              <a:t> Membership &amp; Flight Activity</a:t>
            </a:r>
            <a:endParaRPr sz="23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1937" y="4114800"/>
            <a:ext cx="3310890" cy="15875"/>
          </a:xfrm>
          <a:custGeom>
            <a:avLst/>
            <a:gdLst/>
            <a:ahLst/>
            <a:cxnLst/>
            <a:rect l="l" t="t" r="r" b="b"/>
            <a:pathLst>
              <a:path w="3310890" h="15875">
                <a:moveTo>
                  <a:pt x="3310758" y="15765"/>
                </a:moveTo>
                <a:lnTo>
                  <a:pt x="0" y="15765"/>
                </a:lnTo>
                <a:lnTo>
                  <a:pt x="0" y="0"/>
                </a:lnTo>
                <a:lnTo>
                  <a:pt x="3310758" y="0"/>
                </a:lnTo>
                <a:lnTo>
                  <a:pt x="3310758" y="15765"/>
                </a:lnTo>
                <a:close/>
              </a:path>
            </a:pathLst>
          </a:custGeom>
          <a:solidFill>
            <a:srgbClr val="FFFFFF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01457" y="4329491"/>
            <a:ext cx="3341370" cy="5096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233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Benjamin</a:t>
            </a:r>
            <a:r>
              <a:rPr sz="13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McKenzie</a:t>
            </a:r>
            <a:endParaRPr sz="1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December 2025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E09CA-FD7C-52C0-2606-75124947ACE4}"/>
              </a:ext>
            </a:extLst>
          </p:cNvPr>
          <p:cNvSpPr txBox="1"/>
          <p:nvPr/>
        </p:nvSpPr>
        <p:spPr>
          <a:xfrm>
            <a:off x="0" y="2106425"/>
            <a:ext cx="9144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300" b="1" dirty="0">
                <a:solidFill>
                  <a:schemeClr val="bg1"/>
                </a:solidFill>
                <a:latin typeface="+mj-lt"/>
              </a:rPr>
              <a:t>NLA Promotional Campaign Impact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E98D1C-F65F-6AB9-D709-97F18E74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A873D0-B970-F704-3588-C92E48D3425D}"/>
              </a:ext>
            </a:extLst>
          </p:cNvPr>
          <p:cNvSpPr txBox="1"/>
          <p:nvPr/>
        </p:nvSpPr>
        <p:spPr>
          <a:xfrm>
            <a:off x="2604991" y="-20582"/>
            <a:ext cx="2357755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-10" dirty="0">
                <a:solidFill>
                  <a:srgbClr val="0066CC"/>
                </a:solidFill>
                <a:latin typeface="Calibri"/>
                <a:cs typeface="Calibri"/>
              </a:rPr>
              <a:t>06_retention_comparison.png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BAFFCB9-E710-9BDF-5273-56E058A4D7F4}"/>
              </a:ext>
            </a:extLst>
          </p:cNvPr>
          <p:cNvGrpSpPr/>
          <p:nvPr/>
        </p:nvGrpSpPr>
        <p:grpSpPr>
          <a:xfrm>
            <a:off x="0" y="0"/>
            <a:ext cx="9143416" cy="4829252"/>
            <a:chOff x="0" y="0"/>
            <a:chExt cx="7567447" cy="4611523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0FF52AC-E71E-4EB5-3BB5-C8180B0934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567447" cy="1150882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0E9289F-BC20-662E-AD2F-AE3BAB674324}"/>
                </a:ext>
              </a:extLst>
            </p:cNvPr>
            <p:cNvSpPr/>
            <p:nvPr/>
          </p:nvSpPr>
          <p:spPr>
            <a:xfrm>
              <a:off x="323193" y="1474075"/>
              <a:ext cx="6921500" cy="701675"/>
            </a:xfrm>
            <a:custGeom>
              <a:avLst/>
              <a:gdLst/>
              <a:ahLst/>
              <a:cxnLst/>
              <a:rect l="l" t="t" r="r" b="b"/>
              <a:pathLst>
                <a:path w="6921500" h="701675">
                  <a:moveTo>
                    <a:pt x="6854775" y="701561"/>
                  </a:moveTo>
                  <a:lnTo>
                    <a:pt x="66286" y="701561"/>
                  </a:lnTo>
                  <a:lnTo>
                    <a:pt x="61672" y="701107"/>
                  </a:lnTo>
                  <a:lnTo>
                    <a:pt x="24073" y="684079"/>
                  </a:lnTo>
                  <a:lnTo>
                    <a:pt x="2271" y="649026"/>
                  </a:lnTo>
                  <a:lnTo>
                    <a:pt x="0" y="635277"/>
                  </a:lnTo>
                  <a:lnTo>
                    <a:pt x="0" y="630620"/>
                  </a:lnTo>
                  <a:lnTo>
                    <a:pt x="0" y="66283"/>
                  </a:lnTo>
                  <a:lnTo>
                    <a:pt x="14544" y="27647"/>
                  </a:lnTo>
                  <a:lnTo>
                    <a:pt x="48099" y="3614"/>
                  </a:lnTo>
                  <a:lnTo>
                    <a:pt x="66286" y="0"/>
                  </a:lnTo>
                  <a:lnTo>
                    <a:pt x="6854775" y="0"/>
                  </a:lnTo>
                  <a:lnTo>
                    <a:pt x="6893403" y="14537"/>
                  </a:lnTo>
                  <a:lnTo>
                    <a:pt x="6917442" y="48089"/>
                  </a:lnTo>
                  <a:lnTo>
                    <a:pt x="6921061" y="66283"/>
                  </a:lnTo>
                  <a:lnTo>
                    <a:pt x="6921061" y="635277"/>
                  </a:lnTo>
                  <a:lnTo>
                    <a:pt x="6906515" y="673906"/>
                  </a:lnTo>
                  <a:lnTo>
                    <a:pt x="6872961" y="697939"/>
                  </a:lnTo>
                  <a:lnTo>
                    <a:pt x="6859388" y="701107"/>
                  </a:lnTo>
                  <a:lnTo>
                    <a:pt x="6854775" y="7015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486F614-7CE7-F0EA-D5B6-8BA538CE2EC8}"/>
                </a:ext>
              </a:extLst>
            </p:cNvPr>
            <p:cNvSpPr/>
            <p:nvPr/>
          </p:nvSpPr>
          <p:spPr>
            <a:xfrm>
              <a:off x="323193" y="2286000"/>
              <a:ext cx="6921500" cy="701675"/>
            </a:xfrm>
            <a:custGeom>
              <a:avLst/>
              <a:gdLst/>
              <a:ahLst/>
              <a:cxnLst/>
              <a:rect l="l" t="t" r="r" b="b"/>
              <a:pathLst>
                <a:path w="6921500" h="701675">
                  <a:moveTo>
                    <a:pt x="6854775" y="701561"/>
                  </a:moveTo>
                  <a:lnTo>
                    <a:pt x="66286" y="701561"/>
                  </a:lnTo>
                  <a:lnTo>
                    <a:pt x="61672" y="701107"/>
                  </a:lnTo>
                  <a:lnTo>
                    <a:pt x="24073" y="684076"/>
                  </a:lnTo>
                  <a:lnTo>
                    <a:pt x="2271" y="649022"/>
                  </a:lnTo>
                  <a:lnTo>
                    <a:pt x="0" y="635273"/>
                  </a:lnTo>
                  <a:lnTo>
                    <a:pt x="0" y="630620"/>
                  </a:lnTo>
                  <a:lnTo>
                    <a:pt x="0" y="66283"/>
                  </a:lnTo>
                  <a:lnTo>
                    <a:pt x="14544" y="27647"/>
                  </a:lnTo>
                  <a:lnTo>
                    <a:pt x="48099" y="3610"/>
                  </a:lnTo>
                  <a:lnTo>
                    <a:pt x="66286" y="0"/>
                  </a:lnTo>
                  <a:lnTo>
                    <a:pt x="6854775" y="0"/>
                  </a:lnTo>
                  <a:lnTo>
                    <a:pt x="6893403" y="14537"/>
                  </a:lnTo>
                  <a:lnTo>
                    <a:pt x="6917442" y="48089"/>
                  </a:lnTo>
                  <a:lnTo>
                    <a:pt x="6921061" y="66283"/>
                  </a:lnTo>
                  <a:lnTo>
                    <a:pt x="6921061" y="635273"/>
                  </a:lnTo>
                  <a:lnTo>
                    <a:pt x="6906515" y="673902"/>
                  </a:lnTo>
                  <a:lnTo>
                    <a:pt x="6872961" y="697943"/>
                  </a:lnTo>
                  <a:lnTo>
                    <a:pt x="6859388" y="701107"/>
                  </a:lnTo>
                  <a:lnTo>
                    <a:pt x="6854775" y="7015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918F026-4F00-CC13-081C-5003DE5E2E66}"/>
                </a:ext>
              </a:extLst>
            </p:cNvPr>
            <p:cNvSpPr/>
            <p:nvPr/>
          </p:nvSpPr>
          <p:spPr>
            <a:xfrm>
              <a:off x="323193" y="3097924"/>
              <a:ext cx="6921500" cy="701675"/>
            </a:xfrm>
            <a:custGeom>
              <a:avLst/>
              <a:gdLst/>
              <a:ahLst/>
              <a:cxnLst/>
              <a:rect l="l" t="t" r="r" b="b"/>
              <a:pathLst>
                <a:path w="6921500" h="701675">
                  <a:moveTo>
                    <a:pt x="6854775" y="701565"/>
                  </a:moveTo>
                  <a:lnTo>
                    <a:pt x="66286" y="701565"/>
                  </a:lnTo>
                  <a:lnTo>
                    <a:pt x="61672" y="701111"/>
                  </a:lnTo>
                  <a:lnTo>
                    <a:pt x="24073" y="684076"/>
                  </a:lnTo>
                  <a:lnTo>
                    <a:pt x="2271" y="649026"/>
                  </a:lnTo>
                  <a:lnTo>
                    <a:pt x="0" y="635277"/>
                  </a:lnTo>
                  <a:lnTo>
                    <a:pt x="0" y="630620"/>
                  </a:lnTo>
                  <a:lnTo>
                    <a:pt x="0" y="66283"/>
                  </a:lnTo>
                  <a:lnTo>
                    <a:pt x="14544" y="27651"/>
                  </a:lnTo>
                  <a:lnTo>
                    <a:pt x="48099" y="3614"/>
                  </a:lnTo>
                  <a:lnTo>
                    <a:pt x="66286" y="0"/>
                  </a:lnTo>
                  <a:lnTo>
                    <a:pt x="6854775" y="0"/>
                  </a:lnTo>
                  <a:lnTo>
                    <a:pt x="6893403" y="14537"/>
                  </a:lnTo>
                  <a:lnTo>
                    <a:pt x="6917442" y="48093"/>
                  </a:lnTo>
                  <a:lnTo>
                    <a:pt x="6921061" y="66283"/>
                  </a:lnTo>
                  <a:lnTo>
                    <a:pt x="6921061" y="635277"/>
                  </a:lnTo>
                  <a:lnTo>
                    <a:pt x="6906515" y="673902"/>
                  </a:lnTo>
                  <a:lnTo>
                    <a:pt x="6872961" y="697943"/>
                  </a:lnTo>
                  <a:lnTo>
                    <a:pt x="6859388" y="701111"/>
                  </a:lnTo>
                  <a:lnTo>
                    <a:pt x="6854775" y="7015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BB7CABB-B72E-C014-4141-6F3A1C531BE9}"/>
                </a:ext>
              </a:extLst>
            </p:cNvPr>
            <p:cNvSpPr/>
            <p:nvPr/>
          </p:nvSpPr>
          <p:spPr>
            <a:xfrm>
              <a:off x="323193" y="3909848"/>
              <a:ext cx="6921500" cy="701675"/>
            </a:xfrm>
            <a:custGeom>
              <a:avLst/>
              <a:gdLst/>
              <a:ahLst/>
              <a:cxnLst/>
              <a:rect l="l" t="t" r="r" b="b"/>
              <a:pathLst>
                <a:path w="6921500" h="701675">
                  <a:moveTo>
                    <a:pt x="6854775" y="701565"/>
                  </a:moveTo>
                  <a:lnTo>
                    <a:pt x="66286" y="701565"/>
                  </a:lnTo>
                  <a:lnTo>
                    <a:pt x="61672" y="701111"/>
                  </a:lnTo>
                  <a:lnTo>
                    <a:pt x="24073" y="684079"/>
                  </a:lnTo>
                  <a:lnTo>
                    <a:pt x="2271" y="649026"/>
                  </a:lnTo>
                  <a:lnTo>
                    <a:pt x="0" y="635277"/>
                  </a:lnTo>
                  <a:lnTo>
                    <a:pt x="0" y="630620"/>
                  </a:lnTo>
                  <a:lnTo>
                    <a:pt x="0" y="66283"/>
                  </a:lnTo>
                  <a:lnTo>
                    <a:pt x="14544" y="27643"/>
                  </a:lnTo>
                  <a:lnTo>
                    <a:pt x="48099" y="3614"/>
                  </a:lnTo>
                  <a:lnTo>
                    <a:pt x="66286" y="0"/>
                  </a:lnTo>
                  <a:lnTo>
                    <a:pt x="6854775" y="0"/>
                  </a:lnTo>
                  <a:lnTo>
                    <a:pt x="6893403" y="14537"/>
                  </a:lnTo>
                  <a:lnTo>
                    <a:pt x="6917442" y="48089"/>
                  </a:lnTo>
                  <a:lnTo>
                    <a:pt x="6921061" y="66283"/>
                  </a:lnTo>
                  <a:lnTo>
                    <a:pt x="6921061" y="635277"/>
                  </a:lnTo>
                  <a:lnTo>
                    <a:pt x="6906515" y="673902"/>
                  </a:lnTo>
                  <a:lnTo>
                    <a:pt x="6872961" y="697943"/>
                  </a:lnTo>
                  <a:lnTo>
                    <a:pt x="6859388" y="701111"/>
                  </a:lnTo>
                  <a:lnTo>
                    <a:pt x="6854775" y="7015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94B0E7B5-D8B0-988D-77D4-A2AACC66FB24}"/>
              </a:ext>
            </a:extLst>
          </p:cNvPr>
          <p:cNvSpPr txBox="1"/>
          <p:nvPr/>
        </p:nvSpPr>
        <p:spPr>
          <a:xfrm>
            <a:off x="540940" y="1605945"/>
            <a:ext cx="1320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496BB88-686B-24A9-498A-1D56D436DA95}"/>
              </a:ext>
            </a:extLst>
          </p:cNvPr>
          <p:cNvSpPr txBox="1"/>
          <p:nvPr/>
        </p:nvSpPr>
        <p:spPr>
          <a:xfrm>
            <a:off x="540940" y="4853642"/>
            <a:ext cx="1320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3AFB841-D63F-8A1E-52E4-2705ABF5BC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492" y="295077"/>
            <a:ext cx="3789045" cy="51167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2650" spc="-10" dirty="0"/>
              <a:t>Executive Summary</a:t>
            </a:r>
            <a:endParaRPr sz="2650" dirty="0"/>
          </a:p>
        </p:txBody>
      </p:sp>
      <p:grpSp>
        <p:nvGrpSpPr>
          <p:cNvPr id="32" name="object 2">
            <a:extLst>
              <a:ext uri="{FF2B5EF4-FFF2-40B4-BE49-F238E27FC236}">
                <a16:creationId xmlns:a16="http://schemas.microsoft.com/office/drawing/2014/main" id="{7170B0F3-C3EB-837F-CD99-7447FB2C2457}"/>
              </a:ext>
            </a:extLst>
          </p:cNvPr>
          <p:cNvGrpSpPr/>
          <p:nvPr/>
        </p:nvGrpSpPr>
        <p:grpSpPr>
          <a:xfrm>
            <a:off x="315310" y="1466193"/>
            <a:ext cx="8362946" cy="796290"/>
            <a:chOff x="315310" y="1466193"/>
            <a:chExt cx="6937375" cy="796290"/>
          </a:xfrm>
        </p:grpSpPr>
        <p:sp>
          <p:nvSpPr>
            <p:cNvPr id="33" name="object 3">
              <a:extLst>
                <a:ext uri="{FF2B5EF4-FFF2-40B4-BE49-F238E27FC236}">
                  <a16:creationId xmlns:a16="http://schemas.microsoft.com/office/drawing/2014/main" id="{F995D371-F788-CB42-4B78-26395EF1DE9B}"/>
                </a:ext>
              </a:extLst>
            </p:cNvPr>
            <p:cNvSpPr/>
            <p:nvPr/>
          </p:nvSpPr>
          <p:spPr>
            <a:xfrm>
              <a:off x="338958" y="1466193"/>
              <a:ext cx="6913245" cy="796290"/>
            </a:xfrm>
            <a:custGeom>
              <a:avLst/>
              <a:gdLst/>
              <a:ahLst/>
              <a:cxnLst/>
              <a:rect l="l" t="t" r="r" b="b"/>
              <a:pathLst>
                <a:path w="6913245" h="796289">
                  <a:moveTo>
                    <a:pt x="6878991" y="796157"/>
                  </a:moveTo>
                  <a:lnTo>
                    <a:pt x="13674" y="796157"/>
                  </a:lnTo>
                  <a:lnTo>
                    <a:pt x="11663" y="795155"/>
                  </a:lnTo>
                  <a:lnTo>
                    <a:pt x="0" y="761971"/>
                  </a:lnTo>
                  <a:lnTo>
                    <a:pt x="0" y="756744"/>
                  </a:lnTo>
                  <a:lnTo>
                    <a:pt x="0" y="34185"/>
                  </a:lnTo>
                  <a:lnTo>
                    <a:pt x="13674" y="0"/>
                  </a:lnTo>
                  <a:lnTo>
                    <a:pt x="6878991" y="0"/>
                  </a:lnTo>
                  <a:lnTo>
                    <a:pt x="6912177" y="29158"/>
                  </a:lnTo>
                  <a:lnTo>
                    <a:pt x="6913178" y="34185"/>
                  </a:lnTo>
                  <a:lnTo>
                    <a:pt x="6913178" y="761971"/>
                  </a:lnTo>
                  <a:lnTo>
                    <a:pt x="6884019" y="795156"/>
                  </a:lnTo>
                  <a:lnTo>
                    <a:pt x="6878991" y="796157"/>
                  </a:lnTo>
                  <a:close/>
                </a:path>
              </a:pathLst>
            </a:custGeom>
            <a:solidFill>
              <a:srgbClr val="D4EC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4">
              <a:extLst>
                <a:ext uri="{FF2B5EF4-FFF2-40B4-BE49-F238E27FC236}">
                  <a16:creationId xmlns:a16="http://schemas.microsoft.com/office/drawing/2014/main" id="{51A81FB8-4529-CD44-3723-E36BC68AFBD5}"/>
                </a:ext>
              </a:extLst>
            </p:cNvPr>
            <p:cNvSpPr/>
            <p:nvPr/>
          </p:nvSpPr>
          <p:spPr>
            <a:xfrm>
              <a:off x="315310" y="1466194"/>
              <a:ext cx="47625" cy="796290"/>
            </a:xfrm>
            <a:custGeom>
              <a:avLst/>
              <a:gdLst/>
              <a:ahLst/>
              <a:cxnLst/>
              <a:rect l="l" t="t" r="r" b="b"/>
              <a:pathLst>
                <a:path w="47625" h="796289">
                  <a:moveTo>
                    <a:pt x="47296" y="796157"/>
                  </a:moveTo>
                  <a:lnTo>
                    <a:pt x="39413" y="796157"/>
                  </a:lnTo>
                  <a:lnTo>
                    <a:pt x="31549" y="795435"/>
                  </a:lnTo>
                  <a:lnTo>
                    <a:pt x="721" y="764607"/>
                  </a:lnTo>
                  <a:lnTo>
                    <a:pt x="0" y="756743"/>
                  </a:lnTo>
                  <a:lnTo>
                    <a:pt x="0" y="39413"/>
                  </a:lnTo>
                  <a:lnTo>
                    <a:pt x="24283" y="2885"/>
                  </a:lnTo>
                  <a:lnTo>
                    <a:pt x="39413" y="0"/>
                  </a:lnTo>
                  <a:lnTo>
                    <a:pt x="47296" y="0"/>
                  </a:lnTo>
                  <a:lnTo>
                    <a:pt x="47296" y="796157"/>
                  </a:lnTo>
                  <a:close/>
                </a:path>
              </a:pathLst>
            </a:custGeom>
            <a:solidFill>
              <a:srgbClr val="28A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" name="object 7">
            <a:extLst>
              <a:ext uri="{FF2B5EF4-FFF2-40B4-BE49-F238E27FC236}">
                <a16:creationId xmlns:a16="http://schemas.microsoft.com/office/drawing/2014/main" id="{7DB907FA-5557-AE42-F715-402049AB0E5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310" y="2498835"/>
            <a:ext cx="2655906" cy="1245475"/>
          </a:xfrm>
          <a:prstGeom prst="rect">
            <a:avLst/>
          </a:prstGeom>
        </p:spPr>
      </p:pic>
      <p:pic>
        <p:nvPicPr>
          <p:cNvPr id="36" name="object 9">
            <a:extLst>
              <a:ext uri="{FF2B5EF4-FFF2-40B4-BE49-F238E27FC236}">
                <a16:creationId xmlns:a16="http://schemas.microsoft.com/office/drawing/2014/main" id="{228129C0-D761-CBC4-3571-58AF9DA9C8A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2792" y="2508071"/>
            <a:ext cx="2655906" cy="1245475"/>
          </a:xfrm>
          <a:prstGeom prst="rect">
            <a:avLst/>
          </a:prstGeom>
        </p:spPr>
      </p:pic>
      <p:pic>
        <p:nvPicPr>
          <p:cNvPr id="37" name="object 11">
            <a:extLst>
              <a:ext uri="{FF2B5EF4-FFF2-40B4-BE49-F238E27FC236}">
                <a16:creationId xmlns:a16="http://schemas.microsoft.com/office/drawing/2014/main" id="{886A7E25-0FB2-E9CB-12DF-48A0732C3DB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50275" y="2498835"/>
            <a:ext cx="2627399" cy="1245475"/>
          </a:xfrm>
          <a:prstGeom prst="rect">
            <a:avLst/>
          </a:prstGeom>
        </p:spPr>
      </p:pic>
      <p:sp>
        <p:nvSpPr>
          <p:cNvPr id="39" name="object 8">
            <a:extLst>
              <a:ext uri="{FF2B5EF4-FFF2-40B4-BE49-F238E27FC236}">
                <a16:creationId xmlns:a16="http://schemas.microsoft.com/office/drawing/2014/main" id="{44192182-EBB3-4E33-6A00-A1EAA857DDBF}"/>
              </a:ext>
            </a:extLst>
          </p:cNvPr>
          <p:cNvSpPr txBox="1"/>
          <p:nvPr/>
        </p:nvSpPr>
        <p:spPr>
          <a:xfrm>
            <a:off x="1007585" y="2339962"/>
            <a:ext cx="1154430" cy="1089401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5"/>
              </a:spcBef>
            </a:pPr>
            <a:r>
              <a:rPr sz="3300" b="1" spc="-25" dirty="0">
                <a:solidFill>
                  <a:srgbClr val="FFFFFF"/>
                </a:solidFill>
                <a:latin typeface="Calibri"/>
                <a:cs typeface="Calibri"/>
              </a:rPr>
              <a:t>971</a:t>
            </a:r>
            <a:endParaRPr sz="3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Gross</a:t>
            </a:r>
            <a:r>
              <a:rPr sz="11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Enrollments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40" name="object 10">
            <a:extLst>
              <a:ext uri="{FF2B5EF4-FFF2-40B4-BE49-F238E27FC236}">
                <a16:creationId xmlns:a16="http://schemas.microsoft.com/office/drawing/2014/main" id="{9A88D771-04B5-00CC-46CA-9E00DF5E3952}"/>
              </a:ext>
            </a:extLst>
          </p:cNvPr>
          <p:cNvSpPr txBox="1"/>
          <p:nvPr/>
        </p:nvSpPr>
        <p:spPr>
          <a:xfrm>
            <a:off x="3933530" y="2406836"/>
            <a:ext cx="1154430" cy="109220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5"/>
              </a:spcBef>
            </a:pPr>
            <a:r>
              <a:rPr sz="3300" b="1" spc="-25" dirty="0">
                <a:solidFill>
                  <a:srgbClr val="FFFFFF"/>
                </a:solidFill>
                <a:latin typeface="Calibri"/>
                <a:cs typeface="Calibri"/>
              </a:rPr>
              <a:t>830</a:t>
            </a:r>
            <a:endParaRPr sz="3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Net</a:t>
            </a:r>
            <a:r>
              <a:rPr sz="11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1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3661C575-E5B5-E85A-A0B2-AAA9FBF17C46}"/>
              </a:ext>
            </a:extLst>
          </p:cNvPr>
          <p:cNvSpPr txBox="1"/>
          <p:nvPr/>
        </p:nvSpPr>
        <p:spPr>
          <a:xfrm>
            <a:off x="6781361" y="2444121"/>
            <a:ext cx="1165225" cy="109220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5"/>
              </a:spcBef>
            </a:pPr>
            <a:r>
              <a:rPr sz="3300" b="1" spc="-20" dirty="0">
                <a:solidFill>
                  <a:srgbClr val="FFFFFF"/>
                </a:solidFill>
                <a:latin typeface="Calibri"/>
                <a:cs typeface="Calibri"/>
              </a:rPr>
              <a:t>+54%</a:t>
            </a:r>
            <a:endParaRPr sz="3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sz="11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1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4E0836-3336-F582-248F-864AAFE0EF88}"/>
              </a:ext>
            </a:extLst>
          </p:cNvPr>
          <p:cNvSpPr txBox="1"/>
          <p:nvPr/>
        </p:nvSpPr>
        <p:spPr>
          <a:xfrm>
            <a:off x="390500" y="4267200"/>
            <a:ext cx="821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/>
                <a:cs typeface="Calibri"/>
              </a:rPr>
              <a:t>Gross</a:t>
            </a:r>
            <a:r>
              <a:rPr lang="en-US" sz="1800" b="1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Calibri"/>
                <a:cs typeface="Calibri"/>
              </a:rPr>
              <a:t>Impact:</a:t>
            </a:r>
            <a:r>
              <a:rPr lang="en-US" sz="1800" b="1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971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members</a:t>
            </a:r>
            <a:r>
              <a:rPr lang="en-US" sz="1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enrolled during promotional period</a:t>
            </a:r>
            <a:r>
              <a:rPr lang="en-US" sz="1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(Feb-Apr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2018)</a:t>
            </a:r>
            <a:endParaRPr lang="en-US" sz="1800" spc="-10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/>
                <a:cs typeface="Calibri"/>
              </a:rPr>
              <a:t>Net</a:t>
            </a:r>
            <a:r>
              <a:rPr lang="en-US" sz="1800" b="1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Calibri"/>
                <a:cs typeface="Calibri"/>
              </a:rPr>
              <a:t>Impact:</a:t>
            </a:r>
            <a:r>
              <a:rPr lang="en-US" sz="1800" b="1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830</a:t>
            </a:r>
            <a:r>
              <a:rPr lang="en-US"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net</a:t>
            </a:r>
            <a:r>
              <a:rPr lang="en-US"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lang="en-US"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members</a:t>
            </a:r>
            <a:r>
              <a:rPr lang="en-US"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after</a:t>
            </a:r>
            <a:r>
              <a:rPr lang="en-US"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accounting</a:t>
            </a:r>
            <a:r>
              <a:rPr lang="en-US"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lang="en-US"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141</a:t>
            </a:r>
            <a:r>
              <a:rPr lang="en-US"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spc="-10" dirty="0">
                <a:solidFill>
                  <a:srgbClr val="333333"/>
                </a:solidFill>
                <a:latin typeface="Calibri"/>
                <a:cs typeface="Calibri"/>
              </a:rPr>
              <a:t>cancellations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rgbClr val="333333"/>
              </a:solidFill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/>
                <a:cs typeface="Calibri"/>
              </a:rPr>
              <a:t>Member</a:t>
            </a:r>
            <a:r>
              <a:rPr lang="en-US" sz="1800" b="1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Calibri"/>
                <a:cs typeface="Calibri"/>
              </a:rPr>
              <a:t>Quality:</a:t>
            </a:r>
            <a:r>
              <a:rPr lang="en-US" sz="1800" b="1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Campaign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members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fly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pc="35" dirty="0">
                <a:solidFill>
                  <a:srgbClr val="333333"/>
                </a:solidFill>
                <a:latin typeface="Calibri"/>
                <a:cs typeface="Calibri"/>
              </a:rPr>
              <a:t>2.6X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more per month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than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/>
                <a:cs typeface="Calibri"/>
              </a:rPr>
              <a:t>standard</a:t>
            </a:r>
            <a:r>
              <a:rPr lang="en-US"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800" spc="-10" dirty="0">
                <a:solidFill>
                  <a:srgbClr val="333333"/>
                </a:solidFill>
                <a:latin typeface="Calibri"/>
                <a:cs typeface="Calibri"/>
              </a:rPr>
              <a:t>enrollees</a:t>
            </a:r>
            <a:endParaRPr lang="en-US" dirty="0"/>
          </a:p>
        </p:txBody>
      </p:sp>
      <p:sp>
        <p:nvSpPr>
          <p:cNvPr id="45" name="object 6">
            <a:extLst>
              <a:ext uri="{FF2B5EF4-FFF2-40B4-BE49-F238E27FC236}">
                <a16:creationId xmlns:a16="http://schemas.microsoft.com/office/drawing/2014/main" id="{A7288309-6766-519D-941D-242C12BFA472}"/>
              </a:ext>
            </a:extLst>
          </p:cNvPr>
          <p:cNvSpPr txBox="1"/>
          <p:nvPr/>
        </p:nvSpPr>
        <p:spPr>
          <a:xfrm>
            <a:off x="546253" y="1727206"/>
            <a:ext cx="7874438" cy="24109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  <a:tabLst>
                <a:tab pos="196850" algn="l"/>
              </a:tabLst>
            </a:pPr>
            <a:r>
              <a:rPr lang="en-US" sz="1450" b="1" dirty="0">
                <a:solidFill>
                  <a:srgbClr val="155724"/>
                </a:solidFill>
                <a:latin typeface="Calibri"/>
                <a:cs typeface="Calibri"/>
              </a:rPr>
              <a:t>Campaign generated 830 net new members with 3x higher flight activities than standard enrollees.</a:t>
            </a:r>
            <a:endParaRPr sz="14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07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7C0168-4908-40E7-5DD4-A7CA99F2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9FC4F2-6322-4D32-863B-6B378668DEF2}"/>
              </a:ext>
            </a:extLst>
          </p:cNvPr>
          <p:cNvSpPr txBox="1"/>
          <p:nvPr/>
        </p:nvSpPr>
        <p:spPr>
          <a:xfrm>
            <a:off x="499679" y="-25782"/>
            <a:ext cx="263715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Net</a:t>
            </a:r>
            <a:r>
              <a:rPr sz="1650" b="1" spc="-15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Growth</a:t>
            </a:r>
            <a:r>
              <a:rPr sz="1650" b="1" spc="-15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vs</a:t>
            </a:r>
            <a:r>
              <a:rPr sz="1650" b="1" spc="-15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Baseline:</a:t>
            </a:r>
            <a:r>
              <a:rPr sz="1650" b="1" spc="-10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spc="-20" dirty="0">
                <a:solidFill>
                  <a:srgbClr val="28A645"/>
                </a:solidFill>
                <a:latin typeface="Calibri"/>
                <a:cs typeface="Calibri"/>
              </a:rPr>
              <a:t>+32%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CA79D98-60EF-1A5A-1221-F0CC166A68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417" cy="1297068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2155390C-A3DC-92DD-9015-04F2BC8B3393}"/>
              </a:ext>
            </a:extLst>
          </p:cNvPr>
          <p:cNvSpPr txBox="1"/>
          <p:nvPr/>
        </p:nvSpPr>
        <p:spPr>
          <a:xfrm>
            <a:off x="499679" y="5181600"/>
            <a:ext cx="5640194" cy="1893467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Monthly</a:t>
            </a:r>
            <a:r>
              <a:rPr lang="en-US" sz="1400" b="1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breakdown:</a:t>
            </a:r>
            <a:r>
              <a:rPr lang="en-US" sz="1400" b="1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US" sz="1400" spc="-10" dirty="0">
                <a:solidFill>
                  <a:srgbClr val="333333"/>
                </a:solidFill>
                <a:latin typeface="Calibri"/>
                <a:cs typeface="Calibri"/>
              </a:rPr>
              <a:t>      - February: 295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US" sz="1400" spc="-10" dirty="0">
                <a:solidFill>
                  <a:srgbClr val="333333"/>
                </a:solidFill>
                <a:latin typeface="Calibri"/>
                <a:cs typeface="Calibri"/>
              </a:rPr>
              <a:t>      - March: 330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US" sz="1400" spc="-10" dirty="0">
                <a:solidFill>
                  <a:srgbClr val="333333"/>
                </a:solidFill>
                <a:latin typeface="Calibri"/>
                <a:cs typeface="Calibri"/>
              </a:rPr>
              <a:t>      - April: 346</a:t>
            </a:r>
            <a:endParaRPr lang="en-US" sz="14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Enrollment</a:t>
            </a:r>
            <a:r>
              <a:rPr lang="en-US"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returned</a:t>
            </a:r>
            <a:r>
              <a:rPr lang="en-US"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lang="en-US"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slightly</a:t>
            </a:r>
            <a:r>
              <a:rPr lang="en-US"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Calibri"/>
                <a:cs typeface="Calibri"/>
              </a:rPr>
              <a:t>above</a:t>
            </a:r>
            <a:r>
              <a:rPr lang="en-US"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lang="en-US" sz="1400" spc="-10" dirty="0">
                <a:solidFill>
                  <a:srgbClr val="333333"/>
                </a:solidFill>
                <a:latin typeface="Calibri"/>
                <a:cs typeface="Calibri"/>
              </a:rPr>
              <a:t>baseline level post-campaign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745C874-2F23-2F6F-017D-FAEB26E603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782" y="131445"/>
            <a:ext cx="4902934" cy="78226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lang="en-US" sz="2650" dirty="0"/>
              <a:t>Gross Impact: 971 New Members</a:t>
            </a:r>
            <a:endParaRPr sz="26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lang="en-US" sz="1450" b="0" dirty="0">
                <a:latin typeface="Calibri"/>
                <a:cs typeface="Calibri"/>
              </a:rPr>
              <a:t>February – April 2018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D00B0-F54B-E58F-4B5D-26F403F6F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5" y="1297068"/>
            <a:ext cx="8382000" cy="391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9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381000" y="5540150"/>
            <a:ext cx="3046730" cy="126060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450" b="1" dirty="0">
                <a:latin typeface="Calibri"/>
                <a:cs typeface="Calibri"/>
              </a:rPr>
              <a:t>Gross</a:t>
            </a:r>
            <a:r>
              <a:rPr sz="1450" b="1" spc="95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Enrollments:</a:t>
            </a:r>
            <a:r>
              <a:rPr sz="1450" b="1" spc="10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971</a:t>
            </a:r>
            <a:r>
              <a:rPr sz="1450" spc="10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members</a:t>
            </a:r>
            <a:endParaRPr sz="1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b="1" dirty="0">
                <a:latin typeface="Calibri"/>
                <a:cs typeface="Calibri"/>
              </a:rPr>
              <a:t>Cancellations:</a:t>
            </a:r>
            <a:r>
              <a:rPr sz="1450" b="1" spc="14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141</a:t>
            </a:r>
            <a:r>
              <a:rPr sz="1450" spc="14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members</a:t>
            </a:r>
            <a:endParaRPr sz="1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50" b="1" dirty="0">
                <a:latin typeface="Calibri"/>
                <a:cs typeface="Calibri"/>
              </a:rPr>
              <a:t>Net</a:t>
            </a:r>
            <a:r>
              <a:rPr sz="1450" b="1" spc="70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Growth:</a:t>
            </a:r>
            <a:r>
              <a:rPr sz="1450" b="1" spc="7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830</a:t>
            </a:r>
            <a:r>
              <a:rPr sz="1450" spc="7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members</a:t>
            </a:r>
            <a:endParaRPr sz="1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b="1" dirty="0">
                <a:latin typeface="Calibri"/>
                <a:cs typeface="Calibri"/>
              </a:rPr>
              <a:t>Baseline</a:t>
            </a:r>
            <a:r>
              <a:rPr sz="1450" b="1" spc="105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(2017</a:t>
            </a:r>
            <a:r>
              <a:rPr sz="1450" b="1" spc="105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Feb-Apr):</a:t>
            </a:r>
            <a:r>
              <a:rPr sz="1450" b="1" spc="11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629</a:t>
            </a:r>
            <a:r>
              <a:rPr sz="1450" spc="10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members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5F3A7E65-5250-C078-961E-6BD69BA060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417" cy="12970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6200" y="261206"/>
            <a:ext cx="6934200" cy="786113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50" dirty="0"/>
              <a:t>Net</a:t>
            </a:r>
            <a:r>
              <a:rPr sz="2650" spc="-45" dirty="0"/>
              <a:t> </a:t>
            </a:r>
            <a:r>
              <a:rPr sz="2650" dirty="0"/>
              <a:t>Impact:</a:t>
            </a:r>
            <a:r>
              <a:rPr sz="2650" spc="-45" dirty="0"/>
              <a:t> </a:t>
            </a:r>
            <a:r>
              <a:rPr sz="2650" dirty="0"/>
              <a:t>830</a:t>
            </a:r>
            <a:r>
              <a:rPr sz="2650" spc="-45" dirty="0"/>
              <a:t> </a:t>
            </a:r>
            <a:r>
              <a:rPr lang="en-US" sz="2650" spc="-45" dirty="0"/>
              <a:t>New </a:t>
            </a:r>
            <a:r>
              <a:rPr sz="2650" spc="-10" dirty="0"/>
              <a:t>Members</a:t>
            </a:r>
            <a:r>
              <a:rPr lang="en-US" sz="2650" spc="-10" dirty="0"/>
              <a:t> Post-Campaign</a:t>
            </a:r>
            <a:endParaRPr sz="2650" dirty="0"/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450" b="0" dirty="0">
                <a:latin typeface="Calibri"/>
                <a:cs typeface="Calibri"/>
              </a:rPr>
              <a:t>After</a:t>
            </a:r>
            <a:r>
              <a:rPr sz="1450" b="0" spc="5" dirty="0">
                <a:latin typeface="Calibri"/>
                <a:cs typeface="Calibri"/>
              </a:rPr>
              <a:t> </a:t>
            </a:r>
            <a:r>
              <a:rPr sz="1450" b="0" spc="-10" dirty="0">
                <a:latin typeface="Calibri"/>
                <a:cs typeface="Calibri"/>
              </a:rPr>
              <a:t>Cancellations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13" name="Picture 1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3A6F179B-6D30-AF55-F387-0214B181B8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08" y="1297068"/>
            <a:ext cx="7467600" cy="432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2DC287-637A-FDFE-BBEF-8AB2F10AB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541"/>
            <a:ext cx="9144000" cy="488603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499679" y="-25782"/>
            <a:ext cx="263715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Net</a:t>
            </a:r>
            <a:r>
              <a:rPr sz="1650" b="1" spc="-15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Growth</a:t>
            </a:r>
            <a:r>
              <a:rPr sz="1650" b="1" spc="-15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vs</a:t>
            </a:r>
            <a:r>
              <a:rPr sz="1650" b="1" spc="-15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28A645"/>
                </a:solidFill>
                <a:latin typeface="Calibri"/>
                <a:cs typeface="Calibri"/>
              </a:rPr>
              <a:t>Baseline:</a:t>
            </a:r>
            <a:r>
              <a:rPr sz="1650" b="1" spc="-10" dirty="0">
                <a:solidFill>
                  <a:srgbClr val="28A645"/>
                </a:solidFill>
                <a:latin typeface="Calibri"/>
                <a:cs typeface="Calibri"/>
              </a:rPr>
              <a:t> </a:t>
            </a:r>
            <a:r>
              <a:rPr sz="1650" b="1" spc="-20" dirty="0">
                <a:solidFill>
                  <a:srgbClr val="28A645"/>
                </a:solidFill>
                <a:latin typeface="Calibri"/>
                <a:cs typeface="Calibri"/>
              </a:rPr>
              <a:t>+32%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-25782"/>
            <a:ext cx="9144000" cy="6477347"/>
            <a:chOff x="0" y="3"/>
            <a:chExt cx="7567930" cy="5675936"/>
          </a:xfrm>
        </p:grpSpPr>
        <p:sp>
          <p:nvSpPr>
            <p:cNvPr id="4" name="object 4"/>
            <p:cNvSpPr/>
            <p:nvPr/>
          </p:nvSpPr>
          <p:spPr>
            <a:xfrm>
              <a:off x="0" y="1190299"/>
              <a:ext cx="7567930" cy="4485640"/>
            </a:xfrm>
            <a:custGeom>
              <a:avLst/>
              <a:gdLst/>
              <a:ahLst/>
              <a:cxnLst/>
              <a:rect l="l" t="t" r="r" b="b"/>
              <a:pathLst>
                <a:path w="7567930" h="4485640">
                  <a:moveTo>
                    <a:pt x="0" y="4485289"/>
                  </a:moveTo>
                  <a:lnTo>
                    <a:pt x="7567447" y="4485289"/>
                  </a:lnTo>
                  <a:lnTo>
                    <a:pt x="7567447" y="0"/>
                  </a:lnTo>
                  <a:lnTo>
                    <a:pt x="0" y="0"/>
                  </a:lnTo>
                  <a:lnTo>
                    <a:pt x="0" y="4485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"/>
              <a:ext cx="7567447" cy="119029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362200" y="6021930"/>
            <a:ext cx="4800600" cy="78034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333333"/>
                </a:solidFill>
                <a:latin typeface="Calibri"/>
                <a:cs typeface="Calibri"/>
              </a:rPr>
              <a:t>Utilization</a:t>
            </a:r>
            <a:r>
              <a:rPr sz="1250" b="1" spc="-1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125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924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971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members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took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least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flight</a:t>
            </a:r>
            <a:endParaRPr sz="125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89"/>
              </a:spcBef>
              <a:buFont typeface="Arial" panose="020B0604020202020204" pitchFamily="34" charset="0"/>
              <a:buChar char="•"/>
            </a:pPr>
            <a:r>
              <a:rPr sz="1250" b="1" dirty="0">
                <a:solidFill>
                  <a:srgbClr val="333333"/>
                </a:solidFill>
                <a:latin typeface="Calibri"/>
                <a:cs typeface="Calibri"/>
              </a:rPr>
              <a:t>High</a:t>
            </a:r>
            <a:r>
              <a:rPr sz="125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333333"/>
                </a:solidFill>
                <a:latin typeface="Calibri"/>
                <a:cs typeface="Calibri"/>
              </a:rPr>
              <a:t>engagement:</a:t>
            </a:r>
            <a:r>
              <a:rPr sz="125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79%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flew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31+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times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(3-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4</a:t>
            </a:r>
            <a:r>
              <a:rPr sz="12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flights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per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month)</a:t>
            </a:r>
            <a:endParaRPr sz="125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333333"/>
                </a:solidFill>
                <a:latin typeface="Calibri"/>
                <a:cs typeface="Calibri"/>
              </a:rPr>
              <a:t>2.6</a:t>
            </a:r>
            <a:r>
              <a:rPr sz="1250" b="1" dirty="0">
                <a:solidFill>
                  <a:srgbClr val="333333"/>
                </a:solidFill>
                <a:latin typeface="Calibri"/>
                <a:cs typeface="Calibri"/>
              </a:rPr>
              <a:t>×</a:t>
            </a:r>
            <a:r>
              <a:rPr sz="125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333333"/>
                </a:solidFill>
                <a:latin typeface="Calibri"/>
                <a:cs typeface="Calibri"/>
              </a:rPr>
              <a:t>more</a:t>
            </a:r>
            <a:r>
              <a:rPr sz="125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333333"/>
                </a:solidFill>
                <a:latin typeface="Calibri"/>
                <a:cs typeface="Calibri"/>
              </a:rPr>
              <a:t>flights</a:t>
            </a:r>
            <a:r>
              <a:rPr lang="en-US" sz="1250" b="1" spc="-10" dirty="0">
                <a:solidFill>
                  <a:srgbClr val="333333"/>
                </a:solidFill>
                <a:latin typeface="Calibri"/>
                <a:cs typeface="Calibri"/>
              </a:rPr>
              <a:t> monthly</a:t>
            </a:r>
            <a:r>
              <a:rPr sz="125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33333"/>
                </a:solidFill>
                <a:latin typeface="Calibri"/>
                <a:cs typeface="Calibri"/>
              </a:rPr>
              <a:t>than</a:t>
            </a:r>
            <a:r>
              <a:rPr sz="12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333333"/>
                </a:solidFill>
                <a:latin typeface="Calibri"/>
                <a:cs typeface="Calibri"/>
              </a:rPr>
              <a:t>pre-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campaign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standard</a:t>
            </a:r>
            <a:r>
              <a:rPr sz="12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333333"/>
                </a:solidFill>
                <a:latin typeface="Calibri"/>
                <a:cs typeface="Calibri"/>
              </a:rPr>
              <a:t>members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23782" y="131445"/>
            <a:ext cx="5415018" cy="100540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lang="en-US" sz="2650" dirty="0"/>
              <a:t>Campaign Attracted Frequent Flyers</a:t>
            </a:r>
            <a:endParaRPr sz="26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lang="en-US" sz="1450" b="0" dirty="0"/>
              <a:t>Members who enrolled during the campaign flew 3x more than standard enrollees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154467-4C56-F2EC-679B-CA4187118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8" y="1326160"/>
            <a:ext cx="8974792" cy="4777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4ED9DD-F12A-FEF2-554C-CFF86E60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14" y="984102"/>
            <a:ext cx="8357938" cy="4071156"/>
          </a:xfrm>
          <a:prstGeom prst="rect">
            <a:avLst/>
          </a:prstGeom>
        </p:spPr>
      </p:pic>
      <p:pic>
        <p:nvPicPr>
          <p:cNvPr id="23" name="object 11">
            <a:extLst>
              <a:ext uri="{FF2B5EF4-FFF2-40B4-BE49-F238E27FC236}">
                <a16:creationId xmlns:a16="http://schemas.microsoft.com/office/drawing/2014/main" id="{C3456AEA-8894-7F83-93E4-96B4FB622B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4653" y="5099969"/>
            <a:ext cx="2627399" cy="1245475"/>
          </a:xfrm>
          <a:prstGeom prst="rect">
            <a:avLst/>
          </a:prstGeom>
        </p:spPr>
      </p:pic>
      <p:pic>
        <p:nvPicPr>
          <p:cNvPr id="22" name="object 9">
            <a:extLst>
              <a:ext uri="{FF2B5EF4-FFF2-40B4-BE49-F238E27FC236}">
                <a16:creationId xmlns:a16="http://schemas.microsoft.com/office/drawing/2014/main" id="{9C91D67B-BFE0-89CA-2B41-1632958ED9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9983" y="5099969"/>
            <a:ext cx="2655906" cy="1245475"/>
          </a:xfrm>
          <a:prstGeom prst="rect">
            <a:avLst/>
          </a:prstGeom>
        </p:spPr>
      </p:pic>
      <p:pic>
        <p:nvPicPr>
          <p:cNvPr id="21" name="object 7">
            <a:extLst>
              <a:ext uri="{FF2B5EF4-FFF2-40B4-BE49-F238E27FC236}">
                <a16:creationId xmlns:a16="http://schemas.microsoft.com/office/drawing/2014/main" id="{E094A823-E62C-F51D-DE65-0052D80149B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5314" y="5099969"/>
            <a:ext cx="2655906" cy="1245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3416" cy="117691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2400" y="308380"/>
            <a:ext cx="4065270" cy="4193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2650" b="1" spc="-10" dirty="0">
                <a:solidFill>
                  <a:srgbClr val="FFFFFF"/>
                </a:solidFill>
                <a:latin typeface="Calibri"/>
                <a:cs typeface="Calibri"/>
              </a:rPr>
              <a:t>Campaign Value &amp; Impact</a:t>
            </a:r>
            <a:endParaRPr sz="26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330" y="5355297"/>
            <a:ext cx="2069245" cy="7348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950" b="1" spc="-10" dirty="0">
                <a:solidFill>
                  <a:srgbClr val="FFFFFF"/>
                </a:solidFill>
                <a:latin typeface="Calibri"/>
                <a:cs typeface="Calibri"/>
              </a:rPr>
              <a:t>95.2%</a:t>
            </a:r>
            <a:endParaRPr sz="29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lang="en-US" sz="1050" dirty="0">
                <a:solidFill>
                  <a:srgbClr val="FFFFFF"/>
                </a:solidFill>
                <a:latin typeface="Calibri"/>
                <a:cs typeface="Calibri"/>
              </a:rPr>
              <a:t>95.2% of enrollees flew at least once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0585" y="5321617"/>
            <a:ext cx="1411767" cy="7348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495" algn="ctr">
              <a:lnSpc>
                <a:spcPct val="100000"/>
              </a:lnSpc>
              <a:spcBef>
                <a:spcPts val="130"/>
              </a:spcBef>
            </a:pPr>
            <a:r>
              <a:rPr sz="2950" b="1" spc="-10" dirty="0">
                <a:solidFill>
                  <a:srgbClr val="FFFFFF"/>
                </a:solidFill>
                <a:latin typeface="Calibri"/>
                <a:cs typeface="Calibri"/>
              </a:rPr>
              <a:t>$</a:t>
            </a:r>
            <a:r>
              <a:rPr lang="en-US" sz="2950" b="1" spc="-10" dirty="0">
                <a:solidFill>
                  <a:srgbClr val="FFFFFF"/>
                </a:solidFill>
                <a:latin typeface="Calibri"/>
                <a:cs typeface="Calibri"/>
              </a:rPr>
              <a:t>7.8</a:t>
            </a:r>
            <a:r>
              <a:rPr sz="2950" b="1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endParaRPr sz="295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840"/>
              </a:spcBef>
            </a:pPr>
            <a:r>
              <a:rPr lang="en-US" sz="1050" dirty="0">
                <a:solidFill>
                  <a:srgbClr val="FFFFFF"/>
                </a:solidFill>
                <a:latin typeface="Calibri"/>
                <a:cs typeface="Calibri"/>
              </a:rPr>
              <a:t>Customer Lifetime Value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3060" y="5304616"/>
            <a:ext cx="1530584" cy="7348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2950" b="1" spc="-10" dirty="0">
                <a:solidFill>
                  <a:srgbClr val="FFFFFF"/>
                </a:solidFill>
                <a:latin typeface="Calibri"/>
                <a:cs typeface="Calibri"/>
              </a:rPr>
              <a:t>103</a:t>
            </a:r>
            <a:r>
              <a:rPr sz="2950" b="1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endParaRPr sz="2950" dirty="0">
              <a:latin typeface="Calibri"/>
              <a:cs typeface="Calibri"/>
            </a:endParaRPr>
          </a:p>
          <a:p>
            <a:pPr marL="36195" algn="ctr">
              <a:lnSpc>
                <a:spcPct val="100000"/>
              </a:lnSpc>
              <a:spcBef>
                <a:spcPts val="840"/>
              </a:spcBef>
            </a:pPr>
            <a:r>
              <a:rPr lang="en-US" sz="1050" dirty="0">
                <a:solidFill>
                  <a:srgbClr val="FFFFFF"/>
                </a:solidFill>
                <a:latin typeface="Calibri"/>
                <a:cs typeface="Calibri"/>
              </a:rPr>
              <a:t>Loyalty Points Accumulated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AFBE5-4D34-D717-7FFF-84399AF0E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176919"/>
            <a:ext cx="5861793" cy="4038994"/>
          </a:xfrm>
          <a:prstGeom prst="rect">
            <a:avLst/>
          </a:prstGeom>
        </p:spPr>
      </p:pic>
      <p:pic>
        <p:nvPicPr>
          <p:cNvPr id="19" name="object 4">
            <a:extLst>
              <a:ext uri="{FF2B5EF4-FFF2-40B4-BE49-F238E27FC236}">
                <a16:creationId xmlns:a16="http://schemas.microsoft.com/office/drawing/2014/main" id="{616B782A-2D3D-DA4D-2BE3-86FF1FDE07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3416" cy="11769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710418" cy="51167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50" dirty="0"/>
              <a:t>Member</a:t>
            </a:r>
            <a:r>
              <a:rPr sz="2650" spc="-50" dirty="0"/>
              <a:t> </a:t>
            </a:r>
            <a:r>
              <a:rPr sz="2650" dirty="0"/>
              <a:t>Quality</a:t>
            </a:r>
            <a:r>
              <a:rPr sz="2650" spc="-50" dirty="0"/>
              <a:t> </a:t>
            </a:r>
            <a:r>
              <a:rPr lang="en-US" sz="2650" spc="-10" dirty="0"/>
              <a:t>- Retention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432883" y="5209485"/>
            <a:ext cx="4277649" cy="1576738"/>
            <a:chOff x="3901965" y="1466193"/>
            <a:chExt cx="3350260" cy="2727960"/>
          </a:xfrm>
        </p:grpSpPr>
        <p:sp>
          <p:nvSpPr>
            <p:cNvPr id="13" name="object 13"/>
            <p:cNvSpPr/>
            <p:nvPr/>
          </p:nvSpPr>
          <p:spPr>
            <a:xfrm>
              <a:off x="3913789" y="1478017"/>
              <a:ext cx="3326765" cy="2703830"/>
            </a:xfrm>
            <a:custGeom>
              <a:avLst/>
              <a:gdLst/>
              <a:ahLst/>
              <a:cxnLst/>
              <a:rect l="l" t="t" r="r" b="b"/>
              <a:pathLst>
                <a:path w="3326765" h="2703829">
                  <a:moveTo>
                    <a:pt x="3263920" y="2703786"/>
                  </a:moveTo>
                  <a:lnTo>
                    <a:pt x="62603" y="2703786"/>
                  </a:lnTo>
                  <a:lnTo>
                    <a:pt x="58246" y="2703354"/>
                  </a:lnTo>
                  <a:lnTo>
                    <a:pt x="22735" y="2687270"/>
                  </a:lnTo>
                  <a:lnTo>
                    <a:pt x="2145" y="2654164"/>
                  </a:lnTo>
                  <a:lnTo>
                    <a:pt x="0" y="2641182"/>
                  </a:lnTo>
                  <a:lnTo>
                    <a:pt x="0" y="2636782"/>
                  </a:lnTo>
                  <a:lnTo>
                    <a:pt x="0" y="62604"/>
                  </a:lnTo>
                  <a:lnTo>
                    <a:pt x="13735" y="26115"/>
                  </a:lnTo>
                  <a:lnTo>
                    <a:pt x="45426" y="3414"/>
                  </a:lnTo>
                  <a:lnTo>
                    <a:pt x="62603" y="0"/>
                  </a:lnTo>
                  <a:lnTo>
                    <a:pt x="3263920" y="0"/>
                  </a:lnTo>
                  <a:lnTo>
                    <a:pt x="3300402" y="13725"/>
                  </a:lnTo>
                  <a:lnTo>
                    <a:pt x="3323106" y="45418"/>
                  </a:lnTo>
                  <a:lnTo>
                    <a:pt x="3326523" y="62604"/>
                  </a:lnTo>
                  <a:lnTo>
                    <a:pt x="3326523" y="2641182"/>
                  </a:lnTo>
                  <a:lnTo>
                    <a:pt x="3312786" y="2677658"/>
                  </a:lnTo>
                  <a:lnTo>
                    <a:pt x="3281096" y="2700360"/>
                  </a:lnTo>
                  <a:lnTo>
                    <a:pt x="3268277" y="2703354"/>
                  </a:lnTo>
                  <a:lnTo>
                    <a:pt x="3263920" y="2703786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913789" y="1478017"/>
              <a:ext cx="3326765" cy="2703830"/>
            </a:xfrm>
            <a:custGeom>
              <a:avLst/>
              <a:gdLst/>
              <a:ahLst/>
              <a:cxnLst/>
              <a:rect l="l" t="t" r="r" b="b"/>
              <a:pathLst>
                <a:path w="3326765" h="2703829">
                  <a:moveTo>
                    <a:pt x="0" y="2636782"/>
                  </a:moveTo>
                  <a:lnTo>
                    <a:pt x="0" y="67003"/>
                  </a:lnTo>
                  <a:lnTo>
                    <a:pt x="0" y="62604"/>
                  </a:lnTo>
                  <a:lnTo>
                    <a:pt x="429" y="58243"/>
                  </a:lnTo>
                  <a:lnTo>
                    <a:pt x="1287" y="53928"/>
                  </a:lnTo>
                  <a:lnTo>
                    <a:pt x="2145" y="49610"/>
                  </a:lnTo>
                  <a:lnTo>
                    <a:pt x="3416" y="45418"/>
                  </a:lnTo>
                  <a:lnTo>
                    <a:pt x="19624" y="19622"/>
                  </a:lnTo>
                  <a:lnTo>
                    <a:pt x="22735" y="16508"/>
                  </a:lnTo>
                  <a:lnTo>
                    <a:pt x="58246" y="427"/>
                  </a:lnTo>
                  <a:lnTo>
                    <a:pt x="62603" y="0"/>
                  </a:lnTo>
                  <a:lnTo>
                    <a:pt x="67003" y="0"/>
                  </a:lnTo>
                  <a:lnTo>
                    <a:pt x="3259520" y="0"/>
                  </a:lnTo>
                  <a:lnTo>
                    <a:pt x="3263920" y="0"/>
                  </a:lnTo>
                  <a:lnTo>
                    <a:pt x="3268277" y="427"/>
                  </a:lnTo>
                  <a:lnTo>
                    <a:pt x="3272591" y="1285"/>
                  </a:lnTo>
                  <a:lnTo>
                    <a:pt x="3276906" y="2144"/>
                  </a:lnTo>
                  <a:lnTo>
                    <a:pt x="3306898" y="19622"/>
                  </a:lnTo>
                  <a:lnTo>
                    <a:pt x="3310009" y="22732"/>
                  </a:lnTo>
                  <a:lnTo>
                    <a:pt x="3325235" y="53928"/>
                  </a:lnTo>
                  <a:lnTo>
                    <a:pt x="3326094" y="58243"/>
                  </a:lnTo>
                  <a:lnTo>
                    <a:pt x="3326523" y="62604"/>
                  </a:lnTo>
                  <a:lnTo>
                    <a:pt x="3326524" y="67003"/>
                  </a:lnTo>
                  <a:lnTo>
                    <a:pt x="3326524" y="2636782"/>
                  </a:lnTo>
                  <a:lnTo>
                    <a:pt x="3326523" y="2641182"/>
                  </a:lnTo>
                  <a:lnTo>
                    <a:pt x="3326094" y="2645535"/>
                  </a:lnTo>
                  <a:lnTo>
                    <a:pt x="3325235" y="2649849"/>
                  </a:lnTo>
                  <a:lnTo>
                    <a:pt x="3324377" y="2654164"/>
                  </a:lnTo>
                  <a:lnTo>
                    <a:pt x="3323106" y="2658352"/>
                  </a:lnTo>
                  <a:lnTo>
                    <a:pt x="3321422" y="2662417"/>
                  </a:lnTo>
                  <a:lnTo>
                    <a:pt x="3319738" y="2666481"/>
                  </a:lnTo>
                  <a:lnTo>
                    <a:pt x="3296744" y="2692485"/>
                  </a:lnTo>
                  <a:lnTo>
                    <a:pt x="3293086" y="2694929"/>
                  </a:lnTo>
                  <a:lnTo>
                    <a:pt x="3263920" y="2703786"/>
                  </a:lnTo>
                  <a:lnTo>
                    <a:pt x="3259520" y="2703786"/>
                  </a:lnTo>
                  <a:lnTo>
                    <a:pt x="67003" y="2703786"/>
                  </a:lnTo>
                  <a:lnTo>
                    <a:pt x="62603" y="2703786"/>
                  </a:lnTo>
                  <a:lnTo>
                    <a:pt x="58246" y="2703354"/>
                  </a:lnTo>
                  <a:lnTo>
                    <a:pt x="22735" y="2687270"/>
                  </a:lnTo>
                  <a:lnTo>
                    <a:pt x="2145" y="2654164"/>
                  </a:lnTo>
                  <a:lnTo>
                    <a:pt x="0" y="2641182"/>
                  </a:lnTo>
                  <a:lnTo>
                    <a:pt x="0" y="2636782"/>
                  </a:lnTo>
                  <a:close/>
                </a:path>
              </a:pathLst>
            </a:custGeom>
            <a:ln w="23648">
              <a:solidFill>
                <a:srgbClr val="FF9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95965" y="5213604"/>
            <a:ext cx="3951485" cy="1254831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00"/>
              </a:spcBef>
            </a:pPr>
            <a:r>
              <a:rPr sz="1650" b="1" spc="-10" dirty="0">
                <a:solidFill>
                  <a:srgbClr val="E65000"/>
                </a:solidFill>
                <a:latin typeface="Calibri"/>
                <a:cs typeface="Calibri"/>
              </a:rPr>
              <a:t>Retention</a:t>
            </a:r>
            <a:r>
              <a:rPr sz="1650" b="1" spc="-15" dirty="0">
                <a:solidFill>
                  <a:srgbClr val="E65000"/>
                </a:solidFill>
                <a:latin typeface="Calibri"/>
                <a:cs typeface="Calibri"/>
              </a:rPr>
              <a:t> </a:t>
            </a:r>
            <a:r>
              <a:rPr sz="1650" b="1" spc="-20" dirty="0">
                <a:solidFill>
                  <a:srgbClr val="E65000"/>
                </a:solidFill>
                <a:latin typeface="Calibri"/>
                <a:cs typeface="Calibri"/>
              </a:rPr>
              <a:t>Rate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66CC"/>
                </a:solidFill>
                <a:latin typeface="Calibri"/>
                <a:cs typeface="Calibri"/>
              </a:rPr>
              <a:t>88.2%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US" sz="1300" dirty="0">
                <a:solidFill>
                  <a:srgbClr val="666666"/>
                </a:solidFill>
                <a:latin typeface="Calibri"/>
                <a:cs typeface="Calibri"/>
              </a:rPr>
              <a:t>For </a:t>
            </a:r>
            <a:r>
              <a:rPr sz="1300" dirty="0">
                <a:solidFill>
                  <a:srgbClr val="666666"/>
                </a:solidFill>
                <a:latin typeface="Calibri"/>
                <a:cs typeface="Calibri"/>
              </a:rPr>
              <a:t>Campaign</a:t>
            </a:r>
            <a:r>
              <a:rPr sz="1300" spc="6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Members</a:t>
            </a:r>
            <a:r>
              <a:rPr lang="en-US" sz="1300" spc="-10" dirty="0">
                <a:solidFill>
                  <a:srgbClr val="666666"/>
                </a:solidFill>
                <a:latin typeface="Calibri"/>
                <a:cs typeface="Calibri"/>
              </a:rPr>
              <a:t> - </a:t>
            </a:r>
            <a:r>
              <a:rPr lang="en-US" sz="1300" b="1" dirty="0">
                <a:solidFill>
                  <a:srgbClr val="E65000"/>
                </a:solidFill>
                <a:latin typeface="Calibri"/>
                <a:cs typeface="Calibri"/>
              </a:rPr>
              <a:t>9.6% lower</a:t>
            </a:r>
            <a:r>
              <a:rPr lang="en-US" sz="1300" b="1" spc="25" dirty="0">
                <a:solidFill>
                  <a:srgbClr val="E65000"/>
                </a:solidFill>
                <a:latin typeface="Calibri"/>
                <a:cs typeface="Calibri"/>
              </a:rPr>
              <a:t> </a:t>
            </a:r>
            <a:endParaRPr lang="en-US"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sz="1300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5965" y="5997714"/>
            <a:ext cx="1332865" cy="76880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000" b="1" spc="-10" dirty="0">
                <a:solidFill>
                  <a:srgbClr val="666666"/>
                </a:solidFill>
                <a:latin typeface="Calibri"/>
                <a:cs typeface="Calibri"/>
              </a:rPr>
              <a:t>97.8%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300" dirty="0">
                <a:solidFill>
                  <a:srgbClr val="666666"/>
                </a:solidFill>
                <a:latin typeface="Calibri"/>
                <a:cs typeface="Calibri"/>
              </a:rPr>
              <a:t>Standard</a:t>
            </a:r>
            <a:r>
              <a:rPr sz="1300" spc="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Members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EC95-E4BE-D52B-011F-6051BFAA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ject 4">
            <a:extLst>
              <a:ext uri="{FF2B5EF4-FFF2-40B4-BE49-F238E27FC236}">
                <a16:creationId xmlns:a16="http://schemas.microsoft.com/office/drawing/2014/main" id="{9E485F65-34F5-5045-8BE0-56DD38381A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416" cy="117691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A171835-FC96-68F2-CC90-8189B65F0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782" y="120070"/>
            <a:ext cx="6710418" cy="786113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50" dirty="0"/>
              <a:t>Member</a:t>
            </a:r>
            <a:r>
              <a:rPr sz="2650" spc="-50" dirty="0"/>
              <a:t> </a:t>
            </a:r>
            <a:r>
              <a:rPr sz="2650" dirty="0"/>
              <a:t>Quality</a:t>
            </a:r>
            <a:r>
              <a:rPr lang="en-US" sz="2650" dirty="0"/>
              <a:t> – Customer Value</a:t>
            </a:r>
            <a:endParaRPr lang="en-US" sz="2650" spc="-10" dirty="0"/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en-US" sz="1450" b="0" dirty="0">
                <a:latin typeface="Calibri"/>
                <a:cs typeface="Calibri"/>
              </a:rPr>
              <a:t>CLV Distribution Comparison</a:t>
            </a:r>
            <a:endParaRPr lang="en-US" sz="1450" dirty="0">
              <a:latin typeface="Calibri"/>
              <a:cs typeface="Calibri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50D0351-8F36-F298-A5BB-1287A406C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782" y="5512423"/>
            <a:ext cx="4219425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Campaign members: $8,047 average CLV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Standard members: $8,007 average CLV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Distributions are nearly identical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Campaign attracted comparable-value customers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B9AD-3182-6DAB-5543-7102461AD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54" y="1183846"/>
            <a:ext cx="7924508" cy="458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3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D1F1-1341-472D-B67D-D637A682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ject 4">
            <a:extLst>
              <a:ext uri="{FF2B5EF4-FFF2-40B4-BE49-F238E27FC236}">
                <a16:creationId xmlns:a16="http://schemas.microsoft.com/office/drawing/2014/main" id="{AFA5A571-05F6-E7EB-BD70-8BCF0317A9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416" cy="117691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3E5666D-E4D8-11C1-F0BA-8960886C4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782" y="120070"/>
            <a:ext cx="6710418" cy="786113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2650" dirty="0"/>
              <a:t>Geographic Distribution</a:t>
            </a:r>
            <a:endParaRPr lang="en-US" sz="2650" spc="-10" dirty="0"/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en-US" sz="1450" b="0" dirty="0">
                <a:latin typeface="Calibri"/>
                <a:cs typeface="Calibri"/>
              </a:rPr>
              <a:t>Top Markets by Campaign Enrollment</a:t>
            </a:r>
            <a:endParaRPr lang="en-US" sz="1450" dirty="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EFACA6-1AFB-FFBC-79CC-6FCBC82BD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59218"/>
            <a:ext cx="8991600" cy="485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7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"/>
            <a:ext cx="9144000" cy="68579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868" rIns="0" bIns="0" rtlCol="0">
            <a:spAutoFit/>
          </a:bodyPr>
          <a:lstStyle/>
          <a:p>
            <a:pPr marL="2093595">
              <a:lnSpc>
                <a:spcPct val="100000"/>
              </a:lnSpc>
              <a:spcBef>
                <a:spcPts val="120"/>
              </a:spcBef>
            </a:pPr>
            <a:r>
              <a:rPr dirty="0"/>
              <a:t>Campaign</a:t>
            </a:r>
            <a:r>
              <a:rPr spc="-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5" name="object 5"/>
          <p:cNvSpPr/>
          <p:nvPr/>
        </p:nvSpPr>
        <p:spPr>
          <a:xfrm>
            <a:off x="1387365" y="1734213"/>
            <a:ext cx="2908935" cy="1466215"/>
          </a:xfrm>
          <a:custGeom>
            <a:avLst/>
            <a:gdLst/>
            <a:ahLst/>
            <a:cxnLst/>
            <a:rect l="l" t="t" r="r" b="b"/>
            <a:pathLst>
              <a:path w="2908935" h="1466214">
                <a:moveTo>
                  <a:pt x="2798260" y="1466193"/>
                </a:moveTo>
                <a:lnTo>
                  <a:pt x="110477" y="1466193"/>
                </a:lnTo>
                <a:lnTo>
                  <a:pt x="102788" y="1465430"/>
                </a:lnTo>
                <a:lnTo>
                  <a:pt x="65819" y="1454207"/>
                </a:lnTo>
                <a:lnTo>
                  <a:pt x="29142" y="1426071"/>
                </a:lnTo>
                <a:lnTo>
                  <a:pt x="6029" y="1386018"/>
                </a:lnTo>
                <a:lnTo>
                  <a:pt x="0" y="1355711"/>
                </a:lnTo>
                <a:lnTo>
                  <a:pt x="0" y="1347951"/>
                </a:lnTo>
                <a:lnTo>
                  <a:pt x="0" y="110473"/>
                </a:lnTo>
                <a:lnTo>
                  <a:pt x="11971" y="65809"/>
                </a:lnTo>
                <a:lnTo>
                  <a:pt x="40122" y="29133"/>
                </a:lnTo>
                <a:lnTo>
                  <a:pt x="80165" y="6027"/>
                </a:lnTo>
                <a:lnTo>
                  <a:pt x="110477" y="0"/>
                </a:lnTo>
                <a:lnTo>
                  <a:pt x="2798260" y="0"/>
                </a:lnTo>
                <a:lnTo>
                  <a:pt x="2842918" y="11962"/>
                </a:lnTo>
                <a:lnTo>
                  <a:pt x="2879595" y="40114"/>
                </a:lnTo>
                <a:lnTo>
                  <a:pt x="2902708" y="80155"/>
                </a:lnTo>
                <a:lnTo>
                  <a:pt x="2908737" y="110473"/>
                </a:lnTo>
                <a:lnTo>
                  <a:pt x="2908737" y="1355711"/>
                </a:lnTo>
                <a:lnTo>
                  <a:pt x="2896766" y="1400359"/>
                </a:lnTo>
                <a:lnTo>
                  <a:pt x="2868615" y="1437048"/>
                </a:lnTo>
                <a:lnTo>
                  <a:pt x="2828572" y="1460158"/>
                </a:lnTo>
                <a:lnTo>
                  <a:pt x="2805949" y="1465430"/>
                </a:lnTo>
                <a:lnTo>
                  <a:pt x="2798260" y="146619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79101" y="1952793"/>
            <a:ext cx="92583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GROSS</a:t>
            </a:r>
            <a:r>
              <a:rPr sz="11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6667" y="2026873"/>
            <a:ext cx="2430145" cy="93980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300" b="1" dirty="0">
                <a:solidFill>
                  <a:srgbClr val="FFFFFF"/>
                </a:solidFill>
                <a:latin typeface="Calibri"/>
                <a:cs typeface="Calibri"/>
              </a:rPr>
              <a:t>971 </a:t>
            </a:r>
            <a:r>
              <a:rPr sz="3300" b="1" spc="-10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endParaRPr sz="3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+54%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32585" y="1734213"/>
            <a:ext cx="2908935" cy="1466215"/>
          </a:xfrm>
          <a:custGeom>
            <a:avLst/>
            <a:gdLst/>
            <a:ahLst/>
            <a:cxnLst/>
            <a:rect l="l" t="t" r="r" b="b"/>
            <a:pathLst>
              <a:path w="2908934" h="1466214">
                <a:moveTo>
                  <a:pt x="2798260" y="1466193"/>
                </a:moveTo>
                <a:lnTo>
                  <a:pt x="110477" y="1466193"/>
                </a:lnTo>
                <a:lnTo>
                  <a:pt x="102788" y="1465430"/>
                </a:lnTo>
                <a:lnTo>
                  <a:pt x="65819" y="1454207"/>
                </a:lnTo>
                <a:lnTo>
                  <a:pt x="29142" y="1426071"/>
                </a:lnTo>
                <a:lnTo>
                  <a:pt x="6029" y="1386018"/>
                </a:lnTo>
                <a:lnTo>
                  <a:pt x="0" y="1355711"/>
                </a:lnTo>
                <a:lnTo>
                  <a:pt x="0" y="1347951"/>
                </a:lnTo>
                <a:lnTo>
                  <a:pt x="0" y="110473"/>
                </a:lnTo>
                <a:lnTo>
                  <a:pt x="11971" y="65809"/>
                </a:lnTo>
                <a:lnTo>
                  <a:pt x="40122" y="29133"/>
                </a:lnTo>
                <a:lnTo>
                  <a:pt x="80165" y="6027"/>
                </a:lnTo>
                <a:lnTo>
                  <a:pt x="110477" y="0"/>
                </a:lnTo>
                <a:lnTo>
                  <a:pt x="2798260" y="0"/>
                </a:lnTo>
                <a:lnTo>
                  <a:pt x="2842917" y="11962"/>
                </a:lnTo>
                <a:lnTo>
                  <a:pt x="2879595" y="40114"/>
                </a:lnTo>
                <a:lnTo>
                  <a:pt x="2902707" y="80155"/>
                </a:lnTo>
                <a:lnTo>
                  <a:pt x="2908738" y="110473"/>
                </a:lnTo>
                <a:lnTo>
                  <a:pt x="2908738" y="1355711"/>
                </a:lnTo>
                <a:lnTo>
                  <a:pt x="2896765" y="1400359"/>
                </a:lnTo>
                <a:lnTo>
                  <a:pt x="2868615" y="1437048"/>
                </a:lnTo>
                <a:lnTo>
                  <a:pt x="2828572" y="1460158"/>
                </a:lnTo>
                <a:lnTo>
                  <a:pt x="2805949" y="1465430"/>
                </a:lnTo>
                <a:lnTo>
                  <a:pt x="2798260" y="146619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06967" y="1952793"/>
            <a:ext cx="76009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NET</a:t>
            </a:r>
            <a:r>
              <a:rPr sz="11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1887" y="2026873"/>
            <a:ext cx="2430145" cy="93980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3300" b="1" dirty="0">
                <a:solidFill>
                  <a:srgbClr val="FFFFFF"/>
                </a:solidFill>
                <a:latin typeface="Calibri"/>
                <a:cs typeface="Calibri"/>
              </a:rPr>
              <a:t>830 </a:t>
            </a:r>
            <a:r>
              <a:rPr sz="3300" b="1" spc="-10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endParaRPr sz="3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+32%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7365" y="3436888"/>
            <a:ext cx="2908935" cy="1466215"/>
          </a:xfrm>
          <a:custGeom>
            <a:avLst/>
            <a:gdLst/>
            <a:ahLst/>
            <a:cxnLst/>
            <a:rect l="l" t="t" r="r" b="b"/>
            <a:pathLst>
              <a:path w="2908935" h="1466214">
                <a:moveTo>
                  <a:pt x="2798260" y="1466193"/>
                </a:moveTo>
                <a:lnTo>
                  <a:pt x="110477" y="1466193"/>
                </a:lnTo>
                <a:lnTo>
                  <a:pt x="102788" y="1465430"/>
                </a:lnTo>
                <a:lnTo>
                  <a:pt x="65819" y="1454215"/>
                </a:lnTo>
                <a:lnTo>
                  <a:pt x="29142" y="1426071"/>
                </a:lnTo>
                <a:lnTo>
                  <a:pt x="6029" y="1386026"/>
                </a:lnTo>
                <a:lnTo>
                  <a:pt x="0" y="1355711"/>
                </a:lnTo>
                <a:lnTo>
                  <a:pt x="0" y="1347951"/>
                </a:lnTo>
                <a:lnTo>
                  <a:pt x="0" y="110473"/>
                </a:lnTo>
                <a:lnTo>
                  <a:pt x="11971" y="65809"/>
                </a:lnTo>
                <a:lnTo>
                  <a:pt x="40122" y="29137"/>
                </a:lnTo>
                <a:lnTo>
                  <a:pt x="80165" y="6027"/>
                </a:lnTo>
                <a:lnTo>
                  <a:pt x="110477" y="0"/>
                </a:lnTo>
                <a:lnTo>
                  <a:pt x="2798260" y="0"/>
                </a:lnTo>
                <a:lnTo>
                  <a:pt x="2842918" y="11970"/>
                </a:lnTo>
                <a:lnTo>
                  <a:pt x="2879595" y="40114"/>
                </a:lnTo>
                <a:lnTo>
                  <a:pt x="2902708" y="80158"/>
                </a:lnTo>
                <a:lnTo>
                  <a:pt x="2908737" y="110473"/>
                </a:lnTo>
                <a:lnTo>
                  <a:pt x="2908737" y="1355711"/>
                </a:lnTo>
                <a:lnTo>
                  <a:pt x="2896766" y="1400359"/>
                </a:lnTo>
                <a:lnTo>
                  <a:pt x="2868615" y="1437048"/>
                </a:lnTo>
                <a:lnTo>
                  <a:pt x="2828572" y="1460150"/>
                </a:lnTo>
                <a:lnTo>
                  <a:pt x="2805949" y="1465430"/>
                </a:lnTo>
                <a:lnTo>
                  <a:pt x="2798260" y="146619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68853" y="3655468"/>
            <a:ext cx="1346200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150" dirty="0">
                <a:solidFill>
                  <a:srgbClr val="FFFFFF"/>
                </a:solidFill>
                <a:latin typeface="Calibri"/>
                <a:cs typeface="Calibri"/>
              </a:rPr>
              <a:t>FLIGHT ACTIVITY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2941" y="3729549"/>
            <a:ext cx="1357630" cy="1114408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lang="en-US" sz="3300" b="1" spc="-10" dirty="0">
                <a:solidFill>
                  <a:srgbClr val="FFFFFF"/>
                </a:solidFill>
                <a:latin typeface="Calibri"/>
                <a:cs typeface="Calibri"/>
              </a:rPr>
              <a:t>95.2%</a:t>
            </a:r>
            <a:endParaRPr sz="3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lang="en-US" sz="1150" dirty="0">
                <a:solidFill>
                  <a:srgbClr val="FFFFFF"/>
                </a:solidFill>
                <a:latin typeface="Calibri"/>
                <a:cs typeface="Calibri"/>
              </a:rPr>
              <a:t>Campaign enrollees flew 1 or more times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32585" y="3436888"/>
            <a:ext cx="2908935" cy="1466215"/>
          </a:xfrm>
          <a:custGeom>
            <a:avLst/>
            <a:gdLst/>
            <a:ahLst/>
            <a:cxnLst/>
            <a:rect l="l" t="t" r="r" b="b"/>
            <a:pathLst>
              <a:path w="2908934" h="1466214">
                <a:moveTo>
                  <a:pt x="2798260" y="1466193"/>
                </a:moveTo>
                <a:lnTo>
                  <a:pt x="110477" y="1466193"/>
                </a:lnTo>
                <a:lnTo>
                  <a:pt x="102788" y="1465430"/>
                </a:lnTo>
                <a:lnTo>
                  <a:pt x="65819" y="1454215"/>
                </a:lnTo>
                <a:lnTo>
                  <a:pt x="29142" y="1426071"/>
                </a:lnTo>
                <a:lnTo>
                  <a:pt x="6029" y="1386026"/>
                </a:lnTo>
                <a:lnTo>
                  <a:pt x="0" y="1355711"/>
                </a:lnTo>
                <a:lnTo>
                  <a:pt x="0" y="1347951"/>
                </a:lnTo>
                <a:lnTo>
                  <a:pt x="0" y="110473"/>
                </a:lnTo>
                <a:lnTo>
                  <a:pt x="11971" y="65809"/>
                </a:lnTo>
                <a:lnTo>
                  <a:pt x="40122" y="29137"/>
                </a:lnTo>
                <a:lnTo>
                  <a:pt x="80165" y="6027"/>
                </a:lnTo>
                <a:lnTo>
                  <a:pt x="110477" y="0"/>
                </a:lnTo>
                <a:lnTo>
                  <a:pt x="2798260" y="0"/>
                </a:lnTo>
                <a:lnTo>
                  <a:pt x="2842917" y="11970"/>
                </a:lnTo>
                <a:lnTo>
                  <a:pt x="2879595" y="40114"/>
                </a:lnTo>
                <a:lnTo>
                  <a:pt x="2902707" y="80158"/>
                </a:lnTo>
                <a:lnTo>
                  <a:pt x="2908738" y="110473"/>
                </a:lnTo>
                <a:lnTo>
                  <a:pt x="2908738" y="1355711"/>
                </a:lnTo>
                <a:lnTo>
                  <a:pt x="2896765" y="1400359"/>
                </a:lnTo>
                <a:lnTo>
                  <a:pt x="2868615" y="1437048"/>
                </a:lnTo>
                <a:lnTo>
                  <a:pt x="2828572" y="1460150"/>
                </a:lnTo>
                <a:lnTo>
                  <a:pt x="2805949" y="1465430"/>
                </a:lnTo>
                <a:lnTo>
                  <a:pt x="2798260" y="146619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21353" y="3655468"/>
            <a:ext cx="113157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MEMBER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1094" y="3711306"/>
            <a:ext cx="1846058" cy="937436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lang="en-US" sz="3300" b="1" dirty="0">
                <a:solidFill>
                  <a:srgbClr val="FFFFFF"/>
                </a:solidFill>
                <a:latin typeface="Calibri"/>
                <a:cs typeface="Calibri"/>
              </a:rPr>
              <a:t>2.6</a:t>
            </a:r>
            <a:r>
              <a:rPr sz="3300" b="1" dirty="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sz="33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b="1" spc="-2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endParaRPr sz="3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lang="en-US" sz="1150" dirty="0">
                <a:solidFill>
                  <a:srgbClr val="FFFFFF"/>
                </a:solidFill>
                <a:latin typeface="Calibri"/>
                <a:cs typeface="Calibri"/>
              </a:rPr>
              <a:t>Flights vs Standard</a:t>
            </a:r>
            <a:endParaRPr sz="1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350</Words>
  <Application>Microsoft Office PowerPoint</Application>
  <PresentationFormat>On-screen Show (4:3)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Calibri Light</vt:lpstr>
      <vt:lpstr>Office Theme</vt:lpstr>
      <vt:lpstr>PowerPoint Presentation</vt:lpstr>
      <vt:lpstr>Executive Summary</vt:lpstr>
      <vt:lpstr>Gross Impact: 971 New Members February – April 2018</vt:lpstr>
      <vt:lpstr>Net Impact: 830 New Members Post-Campaign After Cancellations</vt:lpstr>
      <vt:lpstr>Campaign Attracted Frequent Flyers Members who enrolled during the campaign flew 3x more than standard enrollees</vt:lpstr>
      <vt:lpstr>PowerPoint Presentation</vt:lpstr>
      <vt:lpstr>Member Quality - Retention</vt:lpstr>
      <vt:lpstr>Member Quality – Customer Value CLV Distribution Comparison</vt:lpstr>
      <vt:lpstr>Geographic Distribution Top Markets by Campaign Enrollment</vt:lpstr>
      <vt:lpstr>Campaign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NLA Campaign Analysis</dc:title>
  <dc:creator>mckmo</dc:creator>
  <cp:lastModifiedBy>mckmojo@gmail.com</cp:lastModifiedBy>
  <cp:revision>3</cp:revision>
  <dcterms:created xsi:type="dcterms:W3CDTF">2025-12-16T16:04:24Z</dcterms:created>
  <dcterms:modified xsi:type="dcterms:W3CDTF">2026-04-14T17:04:18Z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2025-12-16T00:00:00Z</vt:filetime>
  </property>
  <property fmtid="{D5CDD505-2E9C-101B-9397-08002B2CF9AE}" pid="3" name="Creator">
    <vt:lpwstr>Mozilla/5.0 (Windows NT 10.0; Win64; x64) AppleWebKit/537.36 (KHTML, like Gecko) Chrome/143.0.0.0 Safari/537.36 Edg/143.0.0.0</vt:lpwstr>
  </property>
  <property fmtid="{D5CDD505-2E9C-101B-9397-08002B2CF9AE}" pid="4" name="LastSaved">
    <vt:filetime>2025-12-16T00:00:00Z</vt:filetime>
  </property>
  <property fmtid="{D5CDD505-2E9C-101B-9397-08002B2CF9AE}" pid="5" name="Producer">
    <vt:lpwstr>Skia/PDF m143</vt:lpwstr>
  </property>
</Properties>
</file>